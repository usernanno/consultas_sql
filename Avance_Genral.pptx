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7802225" cy="12960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DB9"/>
    <a:srgbClr val="72BF44"/>
    <a:srgbClr val="00B2D5"/>
    <a:srgbClr val="FF4F00"/>
    <a:srgbClr val="002D74"/>
    <a:srgbClr val="ECF3FA"/>
    <a:srgbClr val="E4EEF8"/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43" autoAdjust="0"/>
    <p:restoredTop sz="94660"/>
  </p:normalViewPr>
  <p:slideViewPr>
    <p:cSldViewPr snapToGrid="0">
      <p:cViewPr varScale="1">
        <p:scale>
          <a:sx n="59" d="100"/>
          <a:sy n="59" d="100"/>
        </p:scale>
        <p:origin x="18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5183" y="2121058"/>
            <a:ext cx="15131895" cy="4512122"/>
          </a:xfrm>
        </p:spPr>
        <p:txBody>
          <a:bodyPr anchor="b"/>
          <a:lstStyle>
            <a:lvl1pPr algn="ctr">
              <a:defRPr sz="1133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25280" y="6807186"/>
            <a:ext cx="13351669" cy="3129084"/>
          </a:xfrm>
        </p:spPr>
        <p:txBody>
          <a:bodyPr/>
          <a:lstStyle>
            <a:lvl1pPr marL="0" indent="0" algn="ctr">
              <a:buNone/>
              <a:defRPr sz="4536"/>
            </a:lvl1pPr>
            <a:lvl2pPr marL="864001" indent="0" algn="ctr">
              <a:buNone/>
              <a:defRPr sz="3780"/>
            </a:lvl2pPr>
            <a:lvl3pPr marL="1728000" indent="0" algn="ctr">
              <a:buNone/>
              <a:defRPr sz="3402"/>
            </a:lvl3pPr>
            <a:lvl4pPr marL="2592000" indent="0" algn="ctr">
              <a:buNone/>
              <a:defRPr sz="3024"/>
            </a:lvl4pPr>
            <a:lvl5pPr marL="3455999" indent="0" algn="ctr">
              <a:buNone/>
              <a:defRPr sz="3024"/>
            </a:lvl5pPr>
            <a:lvl6pPr marL="4320000" indent="0" algn="ctr">
              <a:buNone/>
              <a:defRPr sz="3024"/>
            </a:lvl6pPr>
            <a:lvl7pPr marL="5183999" indent="0" algn="ctr">
              <a:buNone/>
              <a:defRPr sz="3024"/>
            </a:lvl7pPr>
            <a:lvl8pPr marL="6048000" indent="0" algn="ctr">
              <a:buNone/>
              <a:defRPr sz="3024"/>
            </a:lvl8pPr>
            <a:lvl9pPr marL="6912000" indent="0" algn="ctr">
              <a:buNone/>
              <a:defRPr sz="3024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29B9-24C8-4F69-8F83-398BB82775CB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EED79-D6D1-4390-B444-BA340293F7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294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29B9-24C8-4F69-8F83-398BB82775CB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EED79-D6D1-4390-B444-BA340293F7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4060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4636" y="3231092"/>
            <a:ext cx="15354412" cy="5391145"/>
          </a:xfrm>
        </p:spPr>
        <p:txBody>
          <a:bodyPr anchor="b"/>
          <a:lstStyle>
            <a:lvl1pPr>
              <a:defRPr sz="1133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4636" y="8673238"/>
            <a:ext cx="15354412" cy="2835076"/>
          </a:xfrm>
        </p:spPr>
        <p:txBody>
          <a:bodyPr/>
          <a:lstStyle>
            <a:lvl1pPr marL="0" indent="0">
              <a:buNone/>
              <a:defRPr sz="4536">
                <a:solidFill>
                  <a:schemeClr val="tx1"/>
                </a:solidFill>
              </a:defRPr>
            </a:lvl1pPr>
            <a:lvl2pPr marL="86400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2pPr>
            <a:lvl3pPr marL="1728000" indent="0">
              <a:buNone/>
              <a:defRPr sz="3402">
                <a:solidFill>
                  <a:schemeClr val="tx1">
                    <a:tint val="75000"/>
                  </a:schemeClr>
                </a:solidFill>
              </a:defRPr>
            </a:lvl3pPr>
            <a:lvl4pPr marL="2592000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4pPr>
            <a:lvl5pPr marL="3455999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5pPr>
            <a:lvl6pPr marL="4320000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6pPr>
            <a:lvl7pPr marL="5183999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7pPr>
            <a:lvl8pPr marL="6048000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8pPr>
            <a:lvl9pPr marL="6912000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29B9-24C8-4F69-8F83-398BB82775CB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EED79-D6D1-4390-B444-BA340293F7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1936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23908" y="3450095"/>
            <a:ext cx="7565939" cy="822322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12382" y="3450095"/>
            <a:ext cx="7565939" cy="822322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29B9-24C8-4F69-8F83-398BB82775CB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EED79-D6D1-4390-B444-BA340293F7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0613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6228" y="690022"/>
            <a:ext cx="15354412" cy="250506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6238" y="3177088"/>
            <a:ext cx="7531177" cy="1557041"/>
          </a:xfrm>
        </p:spPr>
        <p:txBody>
          <a:bodyPr anchor="b"/>
          <a:lstStyle>
            <a:lvl1pPr marL="0" indent="0">
              <a:buNone/>
              <a:defRPr sz="4536" b="1"/>
            </a:lvl1pPr>
            <a:lvl2pPr marL="864001" indent="0">
              <a:buNone/>
              <a:defRPr sz="3780" b="1"/>
            </a:lvl2pPr>
            <a:lvl3pPr marL="1728000" indent="0">
              <a:buNone/>
              <a:defRPr sz="3402" b="1"/>
            </a:lvl3pPr>
            <a:lvl4pPr marL="2592000" indent="0">
              <a:buNone/>
              <a:defRPr sz="3024" b="1"/>
            </a:lvl4pPr>
            <a:lvl5pPr marL="3455999" indent="0">
              <a:buNone/>
              <a:defRPr sz="3024" b="1"/>
            </a:lvl5pPr>
            <a:lvl6pPr marL="4320000" indent="0">
              <a:buNone/>
              <a:defRPr sz="3024" b="1"/>
            </a:lvl6pPr>
            <a:lvl7pPr marL="5183999" indent="0">
              <a:buNone/>
              <a:defRPr sz="3024" b="1"/>
            </a:lvl7pPr>
            <a:lvl8pPr marL="6048000" indent="0">
              <a:buNone/>
              <a:defRPr sz="3024" b="1"/>
            </a:lvl8pPr>
            <a:lvl9pPr marL="6912000" indent="0">
              <a:buNone/>
              <a:defRPr sz="302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6238" y="4734129"/>
            <a:ext cx="7531177" cy="6963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12390" y="3177088"/>
            <a:ext cx="7568261" cy="1557041"/>
          </a:xfrm>
        </p:spPr>
        <p:txBody>
          <a:bodyPr anchor="b"/>
          <a:lstStyle>
            <a:lvl1pPr marL="0" indent="0">
              <a:buNone/>
              <a:defRPr sz="4536" b="1"/>
            </a:lvl1pPr>
            <a:lvl2pPr marL="864001" indent="0">
              <a:buNone/>
              <a:defRPr sz="3780" b="1"/>
            </a:lvl2pPr>
            <a:lvl3pPr marL="1728000" indent="0">
              <a:buNone/>
              <a:defRPr sz="3402" b="1"/>
            </a:lvl3pPr>
            <a:lvl4pPr marL="2592000" indent="0">
              <a:buNone/>
              <a:defRPr sz="3024" b="1"/>
            </a:lvl4pPr>
            <a:lvl5pPr marL="3455999" indent="0">
              <a:buNone/>
              <a:defRPr sz="3024" b="1"/>
            </a:lvl5pPr>
            <a:lvl6pPr marL="4320000" indent="0">
              <a:buNone/>
              <a:defRPr sz="3024" b="1"/>
            </a:lvl6pPr>
            <a:lvl7pPr marL="5183999" indent="0">
              <a:buNone/>
              <a:defRPr sz="3024" b="1"/>
            </a:lvl7pPr>
            <a:lvl8pPr marL="6048000" indent="0">
              <a:buNone/>
              <a:defRPr sz="3024" b="1"/>
            </a:lvl8pPr>
            <a:lvl9pPr marL="6912000" indent="0">
              <a:buNone/>
              <a:defRPr sz="302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12390" y="4734129"/>
            <a:ext cx="7568261" cy="6963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29B9-24C8-4F69-8F83-398BB82775CB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EED79-D6D1-4390-B444-BA340293F7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58171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29B9-24C8-4F69-8F83-398BB82775CB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EED79-D6D1-4390-B444-BA340293F7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673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29B9-24C8-4F69-8F83-398BB82775CB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EED79-D6D1-4390-B444-BA340293F7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75800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6238" y="864024"/>
            <a:ext cx="5741681" cy="3024082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8269" y="1866055"/>
            <a:ext cx="9012380" cy="9210249"/>
          </a:xfrm>
        </p:spPr>
        <p:txBody>
          <a:bodyPr/>
          <a:lstStyle>
            <a:lvl1pPr>
              <a:defRPr sz="6047"/>
            </a:lvl1pPr>
            <a:lvl2pPr>
              <a:defRPr sz="5291"/>
            </a:lvl2pPr>
            <a:lvl3pPr>
              <a:defRPr sz="4536"/>
            </a:lvl3pPr>
            <a:lvl4pPr>
              <a:defRPr sz="3780"/>
            </a:lvl4pPr>
            <a:lvl5pPr>
              <a:defRPr sz="3780"/>
            </a:lvl5pPr>
            <a:lvl6pPr>
              <a:defRPr sz="3780"/>
            </a:lvl6pPr>
            <a:lvl7pPr>
              <a:defRPr sz="3780"/>
            </a:lvl7pPr>
            <a:lvl8pPr>
              <a:defRPr sz="3780"/>
            </a:lvl8pPr>
            <a:lvl9pPr>
              <a:defRPr sz="378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6238" y="3888107"/>
            <a:ext cx="5741681" cy="7203195"/>
          </a:xfrm>
        </p:spPr>
        <p:txBody>
          <a:bodyPr/>
          <a:lstStyle>
            <a:lvl1pPr marL="0" indent="0">
              <a:buNone/>
              <a:defRPr sz="3024"/>
            </a:lvl1pPr>
            <a:lvl2pPr marL="864001" indent="0">
              <a:buNone/>
              <a:defRPr sz="2646"/>
            </a:lvl2pPr>
            <a:lvl3pPr marL="1728000" indent="0">
              <a:buNone/>
              <a:defRPr sz="2268"/>
            </a:lvl3pPr>
            <a:lvl4pPr marL="2592000" indent="0">
              <a:buNone/>
              <a:defRPr sz="1890"/>
            </a:lvl4pPr>
            <a:lvl5pPr marL="3455999" indent="0">
              <a:buNone/>
              <a:defRPr sz="1890"/>
            </a:lvl5pPr>
            <a:lvl6pPr marL="4320000" indent="0">
              <a:buNone/>
              <a:defRPr sz="1890"/>
            </a:lvl6pPr>
            <a:lvl7pPr marL="5183999" indent="0">
              <a:buNone/>
              <a:defRPr sz="1890"/>
            </a:lvl7pPr>
            <a:lvl8pPr marL="6048000" indent="0">
              <a:buNone/>
              <a:defRPr sz="1890"/>
            </a:lvl8pPr>
            <a:lvl9pPr marL="6912000" indent="0">
              <a:buNone/>
              <a:defRPr sz="189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29B9-24C8-4F69-8F83-398BB82775CB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EED79-D6D1-4390-B444-BA340293F7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7026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6238" y="864024"/>
            <a:ext cx="5741681" cy="3024082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68269" y="1866055"/>
            <a:ext cx="9012380" cy="9210249"/>
          </a:xfrm>
        </p:spPr>
        <p:txBody>
          <a:bodyPr anchor="t"/>
          <a:lstStyle>
            <a:lvl1pPr marL="0" indent="0">
              <a:buNone/>
              <a:defRPr sz="6047"/>
            </a:lvl1pPr>
            <a:lvl2pPr marL="864001" indent="0">
              <a:buNone/>
              <a:defRPr sz="5291"/>
            </a:lvl2pPr>
            <a:lvl3pPr marL="1728000" indent="0">
              <a:buNone/>
              <a:defRPr sz="4536"/>
            </a:lvl3pPr>
            <a:lvl4pPr marL="2592000" indent="0">
              <a:buNone/>
              <a:defRPr sz="3780"/>
            </a:lvl4pPr>
            <a:lvl5pPr marL="3455999" indent="0">
              <a:buNone/>
              <a:defRPr sz="3780"/>
            </a:lvl5pPr>
            <a:lvl6pPr marL="4320000" indent="0">
              <a:buNone/>
              <a:defRPr sz="3780"/>
            </a:lvl6pPr>
            <a:lvl7pPr marL="5183999" indent="0">
              <a:buNone/>
              <a:defRPr sz="3780"/>
            </a:lvl7pPr>
            <a:lvl8pPr marL="6048000" indent="0">
              <a:buNone/>
              <a:defRPr sz="3780"/>
            </a:lvl8pPr>
            <a:lvl9pPr marL="6912000" indent="0">
              <a:buNone/>
              <a:defRPr sz="378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6238" y="3888107"/>
            <a:ext cx="5741681" cy="7203195"/>
          </a:xfrm>
        </p:spPr>
        <p:txBody>
          <a:bodyPr/>
          <a:lstStyle>
            <a:lvl1pPr marL="0" indent="0">
              <a:buNone/>
              <a:defRPr sz="3024"/>
            </a:lvl1pPr>
            <a:lvl2pPr marL="864001" indent="0">
              <a:buNone/>
              <a:defRPr sz="2646"/>
            </a:lvl2pPr>
            <a:lvl3pPr marL="1728000" indent="0">
              <a:buNone/>
              <a:defRPr sz="2268"/>
            </a:lvl3pPr>
            <a:lvl4pPr marL="2592000" indent="0">
              <a:buNone/>
              <a:defRPr sz="1890"/>
            </a:lvl4pPr>
            <a:lvl5pPr marL="3455999" indent="0">
              <a:buNone/>
              <a:defRPr sz="1890"/>
            </a:lvl5pPr>
            <a:lvl6pPr marL="4320000" indent="0">
              <a:buNone/>
              <a:defRPr sz="1890"/>
            </a:lvl6pPr>
            <a:lvl7pPr marL="5183999" indent="0">
              <a:buNone/>
              <a:defRPr sz="1890"/>
            </a:lvl7pPr>
            <a:lvl8pPr marL="6048000" indent="0">
              <a:buNone/>
              <a:defRPr sz="1890"/>
            </a:lvl8pPr>
            <a:lvl9pPr marL="6912000" indent="0">
              <a:buNone/>
              <a:defRPr sz="189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29B9-24C8-4F69-8F83-398BB82775CB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EED79-D6D1-4390-B444-BA340293F7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1907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29B9-24C8-4F69-8F83-398BB82775CB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EED79-D6D1-4390-B444-BA340293F7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7706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739710" y="690018"/>
            <a:ext cx="3838611" cy="109832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3917" y="690018"/>
            <a:ext cx="11293283" cy="1098329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229B9-24C8-4F69-8F83-398BB82775CB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EED79-D6D1-4390-B444-BA340293F7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98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23907" y="690022"/>
            <a:ext cx="15354412" cy="2505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3907" y="3450095"/>
            <a:ext cx="15354412" cy="8223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23914" y="12012328"/>
            <a:ext cx="4005504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29B9-24C8-4F69-8F83-398BB82775CB}" type="datetimeFigureOut">
              <a:rPr lang="es-PE" smtClean="0"/>
              <a:t>14/11/2025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97005" y="12012328"/>
            <a:ext cx="6008248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572823" y="12012328"/>
            <a:ext cx="4005504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EED79-D6D1-4390-B444-BA340293F742}" type="slidenum">
              <a:rPr lang="es-PE" smtClean="0"/>
              <a:t>‹Nº›</a:t>
            </a:fld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1222424-108D-A5D8-700D-0D475CFE0C9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910337" y="12713003"/>
            <a:ext cx="2006284" cy="123111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8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Datos elaborados por BCP para uso Interno</a:t>
            </a:r>
          </a:p>
        </p:txBody>
      </p:sp>
    </p:spTree>
    <p:extLst>
      <p:ext uri="{BB962C8B-B14F-4D97-AF65-F5344CB8AC3E}">
        <p14:creationId xmlns:p14="http://schemas.microsoft.com/office/powerpoint/2010/main" val="271370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728000" rtl="0" eaLnBrk="1" latinLnBrk="0" hangingPunct="1">
        <a:lnSpc>
          <a:spcPct val="90000"/>
        </a:lnSpc>
        <a:spcBef>
          <a:spcPct val="0"/>
        </a:spcBef>
        <a:buNone/>
        <a:defRPr sz="83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432000" algn="l" defTabSz="1728000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1pPr>
      <a:lvl2pPr marL="1296000" indent="-432000" algn="l" defTabSz="172800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4536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9" indent="-432000" algn="l" defTabSz="172800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3024000" indent="-432000" algn="l" defTabSz="172800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4pPr>
      <a:lvl5pPr marL="3888000" indent="-432000" algn="l" defTabSz="172800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5pPr>
      <a:lvl6pPr marL="4752000" indent="-432000" algn="l" defTabSz="172800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6pPr>
      <a:lvl7pPr marL="5616000" indent="-432000" algn="l" defTabSz="172800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7pPr>
      <a:lvl8pPr marL="6479999" indent="-432000" algn="l" defTabSz="172800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8pPr>
      <a:lvl9pPr marL="7344000" indent="-432000" algn="l" defTabSz="172800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28000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1pPr>
      <a:lvl2pPr marL="864001" algn="l" defTabSz="1728000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2pPr>
      <a:lvl3pPr marL="1728000" algn="l" defTabSz="1728000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3pPr>
      <a:lvl4pPr marL="2592000" algn="l" defTabSz="1728000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4pPr>
      <a:lvl5pPr marL="3455999" algn="l" defTabSz="1728000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5pPr>
      <a:lvl6pPr marL="4320000" algn="l" defTabSz="1728000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6pPr>
      <a:lvl7pPr marL="5183999" algn="l" defTabSz="1728000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7pPr>
      <a:lvl8pPr marL="6048000" algn="l" defTabSz="1728000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8pPr>
      <a:lvl9pPr marL="6912000" algn="l" defTabSz="1728000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5B0CA22-5532-119B-4671-188C10E80E21}"/>
              </a:ext>
            </a:extLst>
          </p:cNvPr>
          <p:cNvSpPr/>
          <p:nvPr/>
        </p:nvSpPr>
        <p:spPr>
          <a:xfrm>
            <a:off x="-1" y="3"/>
            <a:ext cx="17802225" cy="12960349"/>
          </a:xfrm>
          <a:prstGeom prst="rect">
            <a:avLst/>
          </a:prstGeom>
          <a:solidFill>
            <a:srgbClr val="ECF3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9C105FE4-121E-6EE2-A79E-1FEFB53CBE76}"/>
              </a:ext>
            </a:extLst>
          </p:cNvPr>
          <p:cNvGrpSpPr/>
          <p:nvPr/>
        </p:nvGrpSpPr>
        <p:grpSpPr>
          <a:xfrm>
            <a:off x="152400" y="333635"/>
            <a:ext cx="17465040" cy="3156326"/>
            <a:chOff x="152400" y="333635"/>
            <a:chExt cx="17465040" cy="3156326"/>
          </a:xfrm>
        </p:grpSpPr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952627C2-7A05-8FF6-A8F9-AE47130B442C}"/>
                </a:ext>
              </a:extLst>
            </p:cNvPr>
            <p:cNvSpPr/>
            <p:nvPr/>
          </p:nvSpPr>
          <p:spPr>
            <a:xfrm>
              <a:off x="152400" y="333635"/>
              <a:ext cx="17465040" cy="1113183"/>
            </a:xfrm>
            <a:prstGeom prst="roundRect">
              <a:avLst/>
            </a:prstGeom>
            <a:solidFill>
              <a:srgbClr val="002D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b="1" dirty="0">
                  <a:latin typeface="Flexo" pitchFamily="50" charset="0"/>
                </a:rPr>
                <a:t>AVANCE GENERAL</a:t>
              </a:r>
            </a:p>
            <a:p>
              <a:pPr algn="ctr"/>
              <a:r>
                <a:rPr lang="es-ES" sz="1400" b="1" dirty="0">
                  <a:latin typeface="Flexo" pitchFamily="50" charset="0"/>
                </a:rPr>
                <a:t>RESULTADOS MENSUALES</a:t>
              </a:r>
              <a:endParaRPr lang="es-PE" sz="1400" b="1" dirty="0">
                <a:latin typeface="Flexo" pitchFamily="50" charset="0"/>
              </a:endParaRPr>
            </a:p>
          </p:txBody>
        </p:sp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49B8D380-4FD0-26CC-3BF6-B31A2898D0EA}"/>
                </a:ext>
              </a:extLst>
            </p:cNvPr>
            <p:cNvSpPr/>
            <p:nvPr/>
          </p:nvSpPr>
          <p:spPr>
            <a:xfrm>
              <a:off x="152400" y="1680242"/>
              <a:ext cx="17465040" cy="1809719"/>
            </a:xfrm>
            <a:prstGeom prst="round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EA25315E-B1BA-6440-686A-80F73EF9C3E3}"/>
              </a:ext>
            </a:extLst>
          </p:cNvPr>
          <p:cNvSpPr/>
          <p:nvPr/>
        </p:nvSpPr>
        <p:spPr>
          <a:xfrm>
            <a:off x="168591" y="3723381"/>
            <a:ext cx="17465040" cy="890333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9" name="Imagen 8" descr="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430BADDC-D17C-C828-A131-A3C649ADA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18" y="632219"/>
            <a:ext cx="1803729" cy="45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919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15ead3b-a842-409e-8059-3e3468c48585}" enabled="1" method="Standard" siteId="{5d93ebcc-f769-4380-8b7e-289fc972da1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339</TotalTime>
  <Words>4</Words>
  <Application>Microsoft Office PowerPoint</Application>
  <PresentationFormat>Personalizado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Flexo</vt:lpstr>
      <vt:lpstr>Tema de Office</vt:lpstr>
      <vt:lpstr>Presentación de PowerPoint</vt:lpstr>
    </vt:vector>
  </TitlesOfParts>
  <Company>Banco de Credito del Peru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Mariano Canecilllas Contreras</dc:creator>
  <cp:lastModifiedBy>Mariano Canecillas</cp:lastModifiedBy>
  <cp:revision>9</cp:revision>
  <dcterms:created xsi:type="dcterms:W3CDTF">2024-11-18T21:06:32Z</dcterms:created>
  <dcterms:modified xsi:type="dcterms:W3CDTF">2025-11-15T00:10:34Z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</vt:lpwstr>
  </property>
  <property fmtid="{D5CDD505-2E9C-101B-9397-08002B2CF9AE}" pid="3" name="ClassificationContentMarkingFooterText">
    <vt:lpwstr>Datos elaborados por BCP para uso Interno</vt:lpwstr>
  </property>
</Properties>
</file>